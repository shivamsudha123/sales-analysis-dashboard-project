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Kanit Light" panose="020B0604020202020204" charset="-34"/>
      <p:regular r:id="rId14"/>
    </p:embeddedFont>
    <p:embeddedFont>
      <p:font typeface="Kermit Light" panose="020F0503040000060003" pitchFamily="34" charset="0"/>
      <p:regular r:id="rId15"/>
    </p:embeddedFont>
    <p:embeddedFont>
      <p:font typeface="Martel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723A3-DCCB-E547-BBB3-366ABBC4A15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56D8B-6095-644B-BC7A-C3D29A74D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4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469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0762"/>
            <a:ext cx="51269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Sales Analytics Project Report</a:t>
            </a:r>
            <a:endParaRPr lang="en-US" sz="2750" b="1" dirty="0"/>
          </a:p>
        </p:txBody>
      </p:sp>
      <p:sp>
        <p:nvSpPr>
          <p:cNvPr id="4" name="Text 1"/>
          <p:cNvSpPr/>
          <p:nvPr/>
        </p:nvSpPr>
        <p:spPr>
          <a:xfrm>
            <a:off x="496119" y="23463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in-depth analysis of sales transactions, customer behavior, product performance, and store operations — powered by an interactive Excel Dashboard.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6261"/>
            <a:ext cx="2187550" cy="266402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8752"/>
            <a:ext cx="24746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EXCEL · PIVOT TABLES · DASHBOARD</a:t>
            </a:r>
            <a:endParaRPr lang="en-US" sz="8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B23A4-06C7-55B7-95F4-D7C619E0141F}"/>
              </a:ext>
            </a:extLst>
          </p:cNvPr>
          <p:cNvSpPr txBox="1"/>
          <p:nvPr/>
        </p:nvSpPr>
        <p:spPr>
          <a:xfrm>
            <a:off x="3658075" y="165806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C11AB-489E-9118-D9BC-902FFE7A9E0E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63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About the Dataset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6024339" y="182366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What's Inside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24339" y="2186880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dataset covers sales transactions, customers, products, discounts, and store locations — enabling analysis across four key dimensions.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381152"/>
            <a:ext cx="1931566" cy="735955"/>
          </a:xfrm>
          <a:prstGeom prst="roundRect">
            <a:avLst>
              <a:gd name="adj" fmla="val 809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3527673"/>
            <a:ext cx="16385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Performance</a:t>
            </a:r>
            <a:endParaRPr lang="en-US" sz="1350" b="1" dirty="0"/>
          </a:p>
        </p:txBody>
      </p:sp>
      <p:sp>
        <p:nvSpPr>
          <p:cNvPr id="7" name="Shape 5"/>
          <p:cNvSpPr/>
          <p:nvPr/>
        </p:nvSpPr>
        <p:spPr>
          <a:xfrm>
            <a:off x="2569443" y="3381152"/>
            <a:ext cx="1931640" cy="735955"/>
          </a:xfrm>
          <a:prstGeom prst="roundRect">
            <a:avLst>
              <a:gd name="adj" fmla="val 809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964" y="3527673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Analysis</a:t>
            </a:r>
            <a:endParaRPr lang="en-US" sz="1350" b="1" dirty="0"/>
          </a:p>
        </p:txBody>
      </p:sp>
      <p:sp>
        <p:nvSpPr>
          <p:cNvPr id="9" name="Shape 7"/>
          <p:cNvSpPr/>
          <p:nvPr/>
        </p:nvSpPr>
        <p:spPr>
          <a:xfrm>
            <a:off x="4642842" y="3381152"/>
            <a:ext cx="1931640" cy="735955"/>
          </a:xfrm>
          <a:prstGeom prst="roundRect">
            <a:avLst>
              <a:gd name="adj" fmla="val 809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89363" y="3527673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Sales Team</a:t>
            </a:r>
            <a:r>
              <a:rPr lang="en-GB" sz="120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Performance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6716241" y="3381152"/>
            <a:ext cx="1931640" cy="735955"/>
          </a:xfrm>
          <a:prstGeom prst="roundRect">
            <a:avLst>
              <a:gd name="adj" fmla="val 8090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2763" y="3527673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 Analysis</a:t>
            </a:r>
            <a:endParaRPr lang="en-US" sz="135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748A64-2BE6-3AC9-37D3-C3F379BADDE2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59203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Overview — Key Metrics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₹24.7M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Gross Sales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gross sale amount across all products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₹22.3M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Net sales after discounts applied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9.96%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 Discount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Average discount percentage across 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₹2.37M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Discount Amount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value of discounts given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dashboard features five panels: </a:t>
            </a: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Overview, Product Performance, Store Analysis, Sales Team Performance,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 Analysis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with filters for Month, Category, Location, and more.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C9AA3-8A54-31CA-AA1D-6DB34881238F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1D66C7-FC2E-50E6-B68C-44704D62E3EE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F7DE9-9EB7-EB01-32CC-F5D82FA59431}"/>
              </a:ext>
            </a:extLst>
          </p:cNvPr>
          <p:cNvSpPr txBox="1"/>
          <p:nvPr/>
        </p:nvSpPr>
        <p:spPr>
          <a:xfrm>
            <a:off x="169830" y="139347"/>
            <a:ext cx="468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latin typeface="Kermit Light" panose="02000000000000000000" pitchFamily="2" charset="0"/>
                <a:ea typeface="Kermit Light" panose="02000000000000000000" pitchFamily="2" charset="0"/>
              </a:rPr>
              <a:t>Overview </a:t>
            </a:r>
            <a:endParaRPr lang="en-US" sz="2800" b="1" dirty="0">
              <a:latin typeface="Kermit Light" panose="02000000000000000000" pitchFamily="2" charset="0"/>
              <a:ea typeface="Kermit Light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58718-0CD9-D90B-AF7D-629C3BBE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0" y="725872"/>
            <a:ext cx="1918715" cy="21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761" y="298772"/>
            <a:ext cx="3267600" cy="420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Performance</a:t>
            </a:r>
            <a:endParaRPr lang="en-US" sz="275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29F82-7EEC-3164-5989-EAC826BE561E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4663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42875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Sales Team Performance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35112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7069" y="113511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714077" y="1295921"/>
            <a:ext cx="20706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🏆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Top Performer — Varun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1602432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Highest gross sales (₹3.50Cr), total sales (₹3.16Cr), and units sold (3,089). Consistently leads across all metrics.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358628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069" y="2358628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437066"/>
          </a:solidFill>
          <a:ln/>
        </p:spPr>
      </p:sp>
      <p:sp>
        <p:nvSpPr>
          <p:cNvPr id="10" name="Text 7"/>
          <p:cNvSpPr/>
          <p:nvPr/>
        </p:nvSpPr>
        <p:spPr>
          <a:xfrm>
            <a:off x="714077" y="2519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📊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Balanced Team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4077" y="2825948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Sales distribution among all 8 reps is relatively close, indicating balanced overall team performance.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582144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C5D2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069" y="3582144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714077" y="37429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💡</a:t>
            </a: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Discount Strategy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14077" y="4049464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Riya &amp; Sonal offer the highest avg discounts (10.3%); Amit the lowest (9.6%). Monitor to protect margins.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0F04A4-000D-0C71-5C43-9D0EC0E67D5B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7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23311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596330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Hyderabad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leads in both total sales (₹3.69Cr) and units sold (3,431)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Chennai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records the lowest total sales despite high unit volume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Kolkata, Delhi &amp; Hyderabad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offer the highest avg discounts (10.1%)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Mumbai &amp; Pune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have the lowest avg discounts (9.8%)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0C1118-9BCA-5680-B61D-74FB281966FE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395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37130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34517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Kavya Nair &amp; Arjun Mehta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generate the highest total sales among top customers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Arjun Mehta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has the highest avg order value at ₹63,148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Aditya Roy</a:t>
            </a: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receives the highest avg discount (10.7%); Ananya Das the lowest (9.7%)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725D-1B15-022E-7ABD-D95AF22D5EFF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70184"/>
            <a:ext cx="3429000" cy="45743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417016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65162" y="1019175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983" y="1044104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88727" y="106479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727" y="1347192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Laptops &amp; Smartphones dominate revenue; Smartwatches underperform. Electronics leads all categories.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5162" y="2008287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983" y="2033215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88727" y="205390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Sales Team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8727" y="2336304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Varun &amp; Nidhi are top performers. Team distribution is balanced — replicate top strategies across reps.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5162" y="2997398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983" y="3022327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88727" y="304301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8727" y="3325416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Hyderabad leads in sales &amp; volume. Chennai &amp; Mumbai need stronger marketing and operational support.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5162" y="398651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983" y="401143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88727" y="403212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8727" y="4314527"/>
            <a:ext cx="43611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Top 10 customers drive significant revenue. High-value customers deserve personalized retention strategies.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222761-B426-BAE8-6020-C3BF82103796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1177"/>
            <a:ext cx="4494609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Recommendations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349" y="1020514"/>
            <a:ext cx="261342" cy="2613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Promote Best-Sellers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708770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Increase marketing for Laptops &amp; Smartphones; improve Smartwatch visibility with targeted offers.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233" y="1020514"/>
            <a:ext cx="261342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7233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 Sales Team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7233" y="1708770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Coach lower-performing reps using Varun &amp; Nidhi's successful strategies to lift team output.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349" y="2351410"/>
            <a:ext cx="261342" cy="261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349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Scale Winning Stores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349" y="3039666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Apply Hyderabad's playbook to Chennai &amp; Mumbai; adjust discount strategies by city.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233" y="2351410"/>
            <a:ext cx="261342" cy="261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7233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Retention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7233" y="3039666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Offer personalized deals to high-value customers; launch loyalty programs to reduce heavy discounting.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349" y="3682305"/>
            <a:ext cx="261342" cy="2613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349" y="409418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Planning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349" y="4370561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Maintain adequate stock of high-demand products to prevent shortages and lost sales.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233" y="3682305"/>
            <a:ext cx="261342" cy="2613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7233" y="409418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Data-Driven Decisions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7233" y="4370561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sales data regularly to guide strategy, improve performance, and optimize profitability.</a:t>
            </a:r>
            <a:endParaRPr lang="en-US" sz="1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A30450-C76E-A076-099D-804C0FE55047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47262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0840" y="339700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10840" y="852339"/>
            <a:ext cx="489332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project leveraged </a:t>
            </a: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Pivot Tables</a:t>
            </a: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an </a:t>
            </a:r>
            <a:r>
              <a:rPr lang="en-US" sz="9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Excel Dashboard</a:t>
            </a: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transform raw sales data into actionable insights across products, customers, sales teams, and store locations.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0840" y="1476673"/>
            <a:ext cx="4893320" cy="2601813"/>
          </a:xfrm>
          <a:prstGeom prst="roundRect">
            <a:avLst>
              <a:gd name="adj" fmla="val 189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5603" y="1481435"/>
            <a:ext cx="4883795" cy="648072"/>
          </a:xfrm>
          <a:prstGeom prst="roundRect">
            <a:avLst>
              <a:gd name="adj" fmla="val 7608"/>
            </a:avLst>
          </a:prstGeom>
          <a:solidFill>
            <a:srgbClr val="DFECE9"/>
          </a:solidFill>
          <a:ln/>
        </p:spPr>
      </p:sp>
      <p:sp>
        <p:nvSpPr>
          <p:cNvPr id="7" name="Text 4"/>
          <p:cNvSpPr/>
          <p:nvPr/>
        </p:nvSpPr>
        <p:spPr>
          <a:xfrm>
            <a:off x="532954" y="159878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Microsoft Excel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2954" y="1840483"/>
            <a:ext cx="464909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analysis platform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5603" y="2129507"/>
            <a:ext cx="4883795" cy="648072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0" name="Shape 7"/>
          <p:cNvSpPr/>
          <p:nvPr/>
        </p:nvSpPr>
        <p:spPr>
          <a:xfrm>
            <a:off x="415603" y="2129507"/>
            <a:ext cx="4883795" cy="14288"/>
          </a:xfrm>
          <a:prstGeom prst="roundRect">
            <a:avLst>
              <a:gd name="adj" fmla="val 345104"/>
            </a:avLst>
          </a:prstGeom>
          <a:solidFill>
            <a:srgbClr val="C5D2CF"/>
          </a:solidFill>
          <a:ln/>
        </p:spPr>
      </p:sp>
      <p:sp>
        <p:nvSpPr>
          <p:cNvPr id="11" name="Text 8"/>
          <p:cNvSpPr/>
          <p:nvPr/>
        </p:nvSpPr>
        <p:spPr>
          <a:xfrm>
            <a:off x="532954" y="224685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Pivot Tables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2954" y="2488555"/>
            <a:ext cx="464909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aggregation &amp; summarization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5603" y="2777579"/>
            <a:ext cx="4883795" cy="648072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4" name="Shape 11"/>
          <p:cNvSpPr/>
          <p:nvPr/>
        </p:nvSpPr>
        <p:spPr>
          <a:xfrm>
            <a:off x="415603" y="2777579"/>
            <a:ext cx="4883795" cy="14288"/>
          </a:xfrm>
          <a:prstGeom prst="roundRect">
            <a:avLst>
              <a:gd name="adj" fmla="val 345104"/>
            </a:avLst>
          </a:prstGeom>
          <a:solidFill>
            <a:srgbClr val="C5D2CF"/>
          </a:solidFill>
          <a:ln/>
        </p:spPr>
      </p:sp>
      <p:sp>
        <p:nvSpPr>
          <p:cNvPr id="15" name="Text 12"/>
          <p:cNvSpPr/>
          <p:nvPr/>
        </p:nvSpPr>
        <p:spPr>
          <a:xfrm>
            <a:off x="532954" y="289493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Excel Dashboard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32954" y="3136627"/>
            <a:ext cx="464909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Interactive visual reporting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5603" y="3425651"/>
            <a:ext cx="4883795" cy="648072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8" name="Shape 15"/>
          <p:cNvSpPr/>
          <p:nvPr/>
        </p:nvSpPr>
        <p:spPr>
          <a:xfrm>
            <a:off x="415603" y="3425651"/>
            <a:ext cx="4883795" cy="14288"/>
          </a:xfrm>
          <a:prstGeom prst="roundRect">
            <a:avLst>
              <a:gd name="adj" fmla="val 345104"/>
            </a:avLst>
          </a:prstGeom>
          <a:solidFill>
            <a:srgbClr val="C5D2CF"/>
          </a:solidFill>
          <a:ln/>
        </p:spPr>
      </p:sp>
      <p:sp>
        <p:nvSpPr>
          <p:cNvPr id="19" name="Text 16"/>
          <p:cNvSpPr/>
          <p:nvPr/>
        </p:nvSpPr>
        <p:spPr>
          <a:xfrm>
            <a:off x="532954" y="354300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Charts &amp; Graphs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32954" y="3784699"/>
            <a:ext cx="464909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 storytelling &amp; insights</a:t>
            </a:r>
            <a:endParaRPr lang="en-US" sz="9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10613F-4DD4-E7FA-AF1A-2E67AD9F6DEC}"/>
              </a:ext>
            </a:extLst>
          </p:cNvPr>
          <p:cNvSpPr/>
          <p:nvPr/>
        </p:nvSpPr>
        <p:spPr>
          <a:xfrm>
            <a:off x="7702502" y="4825825"/>
            <a:ext cx="1441498" cy="247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566</Words>
  <Application>Microsoft Office PowerPoint</Application>
  <PresentationFormat>On-screen Show (16:9)</PresentationFormat>
  <Paragraphs>90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Kermit Light</vt:lpstr>
      <vt:lpstr>Martel Sans</vt:lpstr>
      <vt:lpstr>Calibri</vt:lpstr>
      <vt:lpstr>Arial</vt:lpstr>
      <vt:lpstr>Kanit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shivamsudha546@gmail.com</cp:lastModifiedBy>
  <cp:revision>3</cp:revision>
  <dcterms:created xsi:type="dcterms:W3CDTF">2026-05-21T12:31:23Z</dcterms:created>
  <dcterms:modified xsi:type="dcterms:W3CDTF">2026-05-21T16:47:13Z</dcterms:modified>
</cp:coreProperties>
</file>